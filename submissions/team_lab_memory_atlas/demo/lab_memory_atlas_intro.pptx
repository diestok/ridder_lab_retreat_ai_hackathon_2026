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nigh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384048"/>
            <a:ext cx="475488" cy="47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" y="393192"/>
            <a:ext cx="17373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de ridder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621792"/>
            <a:ext cx="17373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C4D1D1"/>
                </a:solidFill>
                <a:latin typeface="Aptos"/>
              </a:rPr>
              <a:t>Lab Memory 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24128"/>
            <a:ext cx="24688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58220"/>
                </a:solidFill>
                <a:latin typeface="Aptos"/>
              </a:rPr>
              <a:t>Why we made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6053328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  <a:latin typeface="Georgia"/>
              </a:rPr>
              <a:t>Lab knowledge disappears</a:t>
            </a:r>
          </a:p>
          <a:p>
            <a:pPr algn="l"/>
            <a:r>
              <a:rPr sz="3200" b="1" dirty="0">
                <a:solidFill>
                  <a:srgbClr val="FFFFFF"/>
                </a:solidFill>
                <a:latin typeface="Georgia"/>
              </a:rPr>
              <a:t>after meetings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18688"/>
            <a:ext cx="5541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dirty="0">
                <a:solidFill>
                  <a:srgbClr val="D6E0E0"/>
                </a:solidFill>
                <a:latin typeface="Aptos"/>
              </a:rPr>
              <a:t>Meetings create decisions, ideas, and follow-up tasks. Without a shared memory layer, they become hard to find, hard to follow, and hard to connect.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681728"/>
            <a:ext cx="1682496" cy="987552"/>
          </a:xfrm>
          <a:prstGeom prst="roundRect">
            <a:avLst/>
          </a:prstGeom>
          <a:solidFill>
            <a:srgbClr val="1F323F"/>
          </a:solidFill>
          <a:ln w="12700">
            <a:solidFill>
              <a:srgbClr val="405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4828032"/>
            <a:ext cx="12801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8220"/>
                </a:solidFill>
                <a:latin typeface="Aptos"/>
              </a:rPr>
              <a:t>Ideas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138928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D6E0E0"/>
                </a:solidFill>
                <a:latin typeface="Aptos"/>
              </a:rPr>
              <a:t>Good suggestions stay in the room.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2888" y="4681728"/>
            <a:ext cx="1682496" cy="987552"/>
          </a:xfrm>
          <a:prstGeom prst="roundRect">
            <a:avLst/>
          </a:prstGeom>
          <a:solidFill>
            <a:srgbClr val="1F323F"/>
          </a:solidFill>
          <a:ln w="12700">
            <a:solidFill>
              <a:srgbClr val="405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79192" y="4828032"/>
            <a:ext cx="12801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8220"/>
                </a:solidFill>
                <a:latin typeface="Aptos"/>
              </a:rPr>
              <a:t>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9191" y="5138928"/>
            <a:ext cx="1456873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D6E0E0"/>
                </a:solidFill>
                <a:latin typeface="Aptos"/>
              </a:rPr>
              <a:t>Tasks are not assigned, revisited, or closed.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8848" y="4681728"/>
            <a:ext cx="1682496" cy="987552"/>
          </a:xfrm>
          <a:prstGeom prst="roundRect">
            <a:avLst/>
          </a:prstGeom>
          <a:solidFill>
            <a:srgbClr val="1F323F"/>
          </a:solidFill>
          <a:ln w="12700">
            <a:solidFill>
              <a:srgbClr val="405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45152" y="4828032"/>
            <a:ext cx="12801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8220"/>
                </a:solidFill>
                <a:latin typeface="Aptos"/>
              </a:rPr>
              <a:t>Connections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5138928"/>
            <a:ext cx="145084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D6E0E0"/>
                </a:solidFill>
                <a:latin typeface="Aptos"/>
              </a:rPr>
              <a:t>People miss who can help with what.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987552"/>
            <a:ext cx="4956048" cy="4919472"/>
          </a:xfrm>
          <a:prstGeom prst="roundRect">
            <a:avLst/>
          </a:prstGeom>
          <a:solidFill>
            <a:srgbClr val="20313C"/>
          </a:solidFill>
          <a:ln w="12700">
            <a:solidFill>
              <a:srgbClr val="4B62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03720" y="1261872"/>
            <a:ext cx="109728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The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554480"/>
            <a:ext cx="338328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D6E0E0"/>
                </a:solidFill>
                <a:latin typeface="Aptos"/>
              </a:rPr>
              <a:t>Useful context exists, but it is not structured.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67728" y="2267712"/>
            <a:ext cx="13258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68896" y="2487168"/>
            <a:ext cx="84124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8222B"/>
                </a:solidFill>
                <a:latin typeface="Aptos"/>
              </a:rPr>
              <a:t>Transcript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87184" y="2779776"/>
            <a:ext cx="896112" cy="45720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87184" y="2971800"/>
            <a:ext cx="896112" cy="45720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87184" y="3163824"/>
            <a:ext cx="896112" cy="45720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loud 24"/>
          <p:cNvSpPr/>
          <p:nvPr/>
        </p:nvSpPr>
        <p:spPr>
          <a:xfrm>
            <a:off x="8705088" y="2212848"/>
            <a:ext cx="1463040" cy="1115568"/>
          </a:xfrm>
          <a:prstGeom prst="cloud">
            <a:avLst/>
          </a:prstGeom>
          <a:solidFill>
            <a:srgbClr val="F7D0B2"/>
          </a:solidFill>
          <a:ln w="1270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79408" y="2651760"/>
            <a:ext cx="8686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D6E0E0"/>
                </a:solidFill>
                <a:latin typeface="Aptos"/>
              </a:rPr>
              <a:t>memory gap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33888" y="2267712"/>
            <a:ext cx="530352" cy="1371600"/>
          </a:xfrm>
          <a:prstGeom prst="roundRect">
            <a:avLst/>
          </a:prstGeom>
          <a:solidFill>
            <a:srgbClr val="0B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80192" y="2542032"/>
            <a:ext cx="22860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39327" y="2926080"/>
            <a:ext cx="347473" cy="0"/>
          </a:xfrm>
          <a:prstGeom prst="line">
            <a:avLst/>
          </a:prstGeom>
          <a:ln w="25400">
            <a:solidFill>
              <a:srgbClr val="D6E0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195560" y="2926080"/>
            <a:ext cx="320040" cy="0"/>
          </a:xfrm>
          <a:prstGeom prst="line">
            <a:avLst/>
          </a:prstGeom>
          <a:ln w="25400">
            <a:solidFill>
              <a:srgbClr val="D6E0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040880" y="4407408"/>
            <a:ext cx="987552" cy="310896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4407408"/>
            <a:ext cx="713232" cy="310896"/>
          </a:xfrm>
          <a:prstGeom prst="roundRect">
            <a:avLst/>
          </a:prstGeom>
          <a:solidFill>
            <a:srgbClr val="0B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tasks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17152" y="4407408"/>
            <a:ext cx="841248" cy="310896"/>
          </a:xfrm>
          <a:prstGeom prst="roundRect">
            <a:avLst/>
          </a:prstGeom>
          <a:solidFill>
            <a:srgbClr val="A94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helpers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68712" y="4407408"/>
            <a:ext cx="896112" cy="310896"/>
          </a:xfrm>
          <a:prstGeom prst="roundRect">
            <a:avLst/>
          </a:prstGeom>
          <a:solidFill>
            <a:srgbClr val="D6A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8222B"/>
                </a:solidFill>
                <a:latin typeface="Aptos"/>
              </a:rPr>
              <a:t>progress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nigh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384048"/>
            <a:ext cx="475488" cy="47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" y="393192"/>
            <a:ext cx="17373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8222B"/>
                </a:solidFill>
                <a:latin typeface="Aptos"/>
              </a:rPr>
              <a:t>de ridder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621792"/>
            <a:ext cx="17373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670"/>
                </a:solidFill>
                <a:latin typeface="Aptos"/>
              </a:rPr>
              <a:t>Lab Memory 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9264"/>
            <a:ext cx="29260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58220"/>
                </a:solidFill>
                <a:latin typeface="Aptos"/>
              </a:rPr>
              <a:t>Why this gets worse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61872"/>
            <a:ext cx="5650993" cy="987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18222B"/>
                </a:solidFill>
                <a:latin typeface="Georgia"/>
              </a:rPr>
              <a:t>As the lab grows, informal memory stops 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359152"/>
            <a:ext cx="54864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5C6670"/>
                </a:solidFill>
                <a:latin typeface="Aptos"/>
              </a:rPr>
              <a:t>More people, SIGs, and projects are a strength. But without a shared map, it becomes harder to keep cohesion: who is doing what, which ideas are active, and where progress is stuck.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364992"/>
            <a:ext cx="14173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3493008"/>
            <a:ext cx="58521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B6F6A"/>
                </a:solidFill>
                <a:latin typeface="Aptos"/>
              </a:rPr>
              <a:t>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867912"/>
            <a:ext cx="10241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5C6670"/>
                </a:solidFill>
                <a:latin typeface="Aptos"/>
              </a:rPr>
              <a:t>people to keep in 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04288" y="3364992"/>
            <a:ext cx="14173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50592" y="3493008"/>
            <a:ext cx="58521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58220"/>
                </a:solidFill>
                <a:latin typeface="Aptos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0592" y="3867912"/>
            <a:ext cx="10241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5C6670"/>
                </a:solidFill>
                <a:latin typeface="Aptos"/>
              </a:rPr>
              <a:t>active groups and projects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41648" y="3364992"/>
            <a:ext cx="14173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87952" y="3493008"/>
            <a:ext cx="58521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A9442E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7952" y="3867912"/>
            <a:ext cx="10241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670"/>
                </a:solidFill>
                <a:latin typeface="Aptos"/>
              </a:rPr>
              <a:t>SIGs with overlapping 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877824"/>
            <a:ext cx="5212080" cy="5413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47104" y="1152144"/>
            <a:ext cx="21945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8222B"/>
                </a:solidFill>
                <a:latin typeface="Aptos"/>
              </a:rPr>
              <a:t>The coordination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1444752"/>
            <a:ext cx="248716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C6670"/>
                </a:solidFill>
                <a:latin typeface="Aptos"/>
              </a:rPr>
              <a:t>Activity rises faster than shared context.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6711696" y="2029968"/>
            <a:ext cx="0" cy="3035808"/>
          </a:xfrm>
          <a:prstGeom prst="line">
            <a:avLst/>
          </a:prstGeom>
          <a:ln w="13970">
            <a:solidFill>
              <a:srgbClr val="AAB7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711696" y="5065776"/>
            <a:ext cx="4096512" cy="0"/>
          </a:xfrm>
          <a:prstGeom prst="line">
            <a:avLst/>
          </a:prstGeom>
          <a:ln w="13970">
            <a:solidFill>
              <a:srgbClr val="AAB7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241280" y="5230368"/>
            <a:ext cx="65836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670"/>
                </a:solidFill>
                <a:latin typeface="Aptos"/>
              </a:rPr>
              <a:t>lab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901952"/>
            <a:ext cx="530352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670"/>
                </a:solidFill>
                <a:latin typeface="Aptos"/>
              </a:rPr>
              <a:t>context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894576" y="4315968"/>
            <a:ext cx="731520" cy="420624"/>
          </a:xfrm>
          <a:prstGeom prst="line">
            <a:avLst/>
          </a:prstGeom>
          <a:ln w="38100">
            <a:solidFill>
              <a:srgbClr val="F58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626096" y="3785615"/>
            <a:ext cx="749808" cy="530353"/>
          </a:xfrm>
          <a:prstGeom prst="line">
            <a:avLst/>
          </a:prstGeom>
          <a:ln w="38100">
            <a:solidFill>
              <a:srgbClr val="F58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75904" y="2962656"/>
            <a:ext cx="768096" cy="822959"/>
          </a:xfrm>
          <a:prstGeom prst="line">
            <a:avLst/>
          </a:prstGeom>
          <a:ln w="38100">
            <a:solidFill>
              <a:srgbClr val="F58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144000" y="2212848"/>
            <a:ext cx="1353312" cy="749808"/>
          </a:xfrm>
          <a:prstGeom prst="line">
            <a:avLst/>
          </a:prstGeom>
          <a:ln w="38100">
            <a:solidFill>
              <a:srgbClr val="F58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473184" y="1993392"/>
            <a:ext cx="10972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58220"/>
                </a:solidFill>
                <a:latin typeface="Aptos"/>
              </a:rPr>
              <a:t>projects + activity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94576" y="2578608"/>
            <a:ext cx="731520" cy="237744"/>
          </a:xfrm>
          <a:prstGeom prst="line">
            <a:avLst/>
          </a:prstGeom>
          <a:ln w="38100">
            <a:solidFill>
              <a:srgbClr val="0B6F6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26096" y="2816352"/>
            <a:ext cx="749808" cy="420624"/>
          </a:xfrm>
          <a:prstGeom prst="line">
            <a:avLst/>
          </a:prstGeom>
          <a:ln w="38100">
            <a:solidFill>
              <a:srgbClr val="0B6F6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375904" y="3236976"/>
            <a:ext cx="768096" cy="676656"/>
          </a:xfrm>
          <a:prstGeom prst="line">
            <a:avLst/>
          </a:prstGeom>
          <a:ln w="38100">
            <a:solidFill>
              <a:srgbClr val="0B6F6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44000" y="3913632"/>
            <a:ext cx="1353312" cy="676656"/>
          </a:xfrm>
          <a:prstGeom prst="line">
            <a:avLst/>
          </a:prstGeom>
          <a:ln w="38100">
            <a:solidFill>
              <a:srgbClr val="0B6F6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582912" y="4681728"/>
            <a:ext cx="10058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B6F6A"/>
                </a:solidFill>
                <a:latin typeface="Aptos"/>
              </a:rPr>
              <a:t>shared context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4" y="2944368"/>
            <a:ext cx="987552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cohesion gap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nigh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384048"/>
            <a:ext cx="475488" cy="47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" y="393192"/>
            <a:ext cx="17373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8222B"/>
                </a:solidFill>
                <a:latin typeface="Aptos"/>
              </a:rPr>
              <a:t>de ridder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621792"/>
            <a:ext cx="17373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670"/>
                </a:solidFill>
                <a:latin typeface="Aptos"/>
              </a:rPr>
              <a:t>Lab Memory 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9264"/>
            <a:ext cx="22860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58220"/>
                </a:solidFill>
                <a:latin typeface="Aptos"/>
              </a:rPr>
              <a:t>What this solves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61872"/>
            <a:ext cx="5443728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dirty="0">
                <a:solidFill>
                  <a:srgbClr val="18222B"/>
                </a:solidFill>
                <a:latin typeface="Georgia"/>
              </a:rPr>
              <a:t>A living map for the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2231136"/>
            <a:ext cx="5407153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C6670"/>
                </a:solidFill>
                <a:latin typeface="Aptos"/>
              </a:rPr>
              <a:t>Meeting transcripts become reviewed lab memory: people, projects, SIGs, supervisors, actions, progress, and suggested helpers.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3108960"/>
            <a:ext cx="50749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3419856"/>
            <a:ext cx="4626864" cy="178510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18222B"/>
                </a:solidFill>
                <a:latin typeface="Aptos"/>
              </a:rPr>
              <a:t>Capture</a:t>
            </a:r>
            <a:r>
              <a:rPr sz="1600" dirty="0">
                <a:solidFill>
                  <a:srgbClr val="5C6670"/>
                </a:solidFill>
                <a:latin typeface="Aptos"/>
              </a:rPr>
              <a:t> meeting transcript and context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8222B"/>
                </a:solidFill>
                <a:latin typeface="Aptos"/>
              </a:rPr>
              <a:t>Draft</a:t>
            </a:r>
            <a:r>
              <a:rPr sz="1600" dirty="0">
                <a:solidFill>
                  <a:srgbClr val="5C6670"/>
                </a:solidFill>
                <a:latin typeface="Aptos"/>
              </a:rPr>
              <a:t> AI proposes summaries, actions, and profile updates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8222B"/>
                </a:solidFill>
                <a:latin typeface="Aptos"/>
              </a:rPr>
              <a:t>Review</a:t>
            </a:r>
            <a:r>
              <a:rPr sz="1600" dirty="0">
                <a:solidFill>
                  <a:srgbClr val="5C6670"/>
                </a:solidFill>
                <a:latin typeface="Aptos"/>
              </a:rPr>
              <a:t> lab members approve or reject changes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8222B"/>
                </a:solidFill>
                <a:latin typeface="Aptos"/>
              </a:rPr>
              <a:t>Connect</a:t>
            </a:r>
            <a:r>
              <a:rPr sz="1600" dirty="0">
                <a:solidFill>
                  <a:srgbClr val="5C6670"/>
                </a:solidFill>
                <a:latin typeface="Aptos"/>
              </a:rPr>
              <a:t> people, projects, supervisors, and follow-ups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5742432"/>
            <a:ext cx="896112" cy="310896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Transcript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84831" y="5742432"/>
            <a:ext cx="896112" cy="310896"/>
          </a:xfrm>
          <a:prstGeom prst="roundRect">
            <a:avLst/>
          </a:prstGeom>
          <a:solidFill>
            <a:srgbClr val="0B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AI draft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82112" y="5742432"/>
            <a:ext cx="1115568" cy="310896"/>
          </a:xfrm>
          <a:prstGeom prst="roundRect">
            <a:avLst/>
          </a:prstGeom>
          <a:solidFill>
            <a:srgbClr val="A94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Human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5742432"/>
            <a:ext cx="896112" cy="310896"/>
          </a:xfrm>
          <a:prstGeom prst="roundRect">
            <a:avLst/>
          </a:prstGeom>
          <a:solidFill>
            <a:srgbClr val="17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Lab Atlas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37360" y="5897880"/>
            <a:ext cx="219455" cy="0"/>
          </a:xfrm>
          <a:prstGeom prst="line">
            <a:avLst/>
          </a:prstGeom>
          <a:ln w="1778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16352" y="5897880"/>
            <a:ext cx="219456" cy="0"/>
          </a:xfrm>
          <a:prstGeom prst="line">
            <a:avLst/>
          </a:prstGeom>
          <a:ln w="1778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279392" y="5897880"/>
            <a:ext cx="219456" cy="0"/>
          </a:xfrm>
          <a:prstGeom prst="line">
            <a:avLst/>
          </a:prstGeom>
          <a:ln w="1778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45936" y="960120"/>
            <a:ext cx="5138928" cy="5230368"/>
          </a:xfrm>
          <a:prstGeom prst="roundRect">
            <a:avLst/>
          </a:prstGeom>
          <a:solidFill>
            <a:srgbClr val="9BA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17920" y="822960"/>
            <a:ext cx="5138928" cy="5230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822960"/>
            <a:ext cx="5138928" cy="310896"/>
          </a:xfrm>
          <a:prstGeom prst="rect">
            <a:avLst/>
          </a:prstGeom>
          <a:solidFill>
            <a:srgbClr val="ED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37376" y="932688"/>
            <a:ext cx="73152" cy="73152"/>
          </a:xfrm>
          <a:prstGeom prst="ellipse">
            <a:avLst/>
          </a:prstGeom>
          <a:solidFill>
            <a:srgbClr val="F05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601968" y="932688"/>
            <a:ext cx="73152" cy="73152"/>
          </a:xfrm>
          <a:prstGeom prst="ellipse">
            <a:avLst/>
          </a:prstGeom>
          <a:solidFill>
            <a:srgbClr val="F3B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766560" y="932688"/>
            <a:ext cx="73152" cy="73152"/>
          </a:xfrm>
          <a:prstGeom prst="ellipse">
            <a:avLst/>
          </a:prstGeom>
          <a:solidFill>
            <a:srgbClr val="63C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app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225296"/>
            <a:ext cx="4919472" cy="3072384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437376" y="4553712"/>
            <a:ext cx="1353312" cy="713232"/>
          </a:xfrm>
          <a:prstGeom prst="roundRect">
            <a:avLst/>
          </a:prstGeom>
          <a:solidFill>
            <a:srgbClr val="F7FAF9"/>
          </a:solidFill>
          <a:ln w="12700"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47104" y="4681728"/>
            <a:ext cx="106070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B6F6A"/>
                </a:solidFill>
                <a:latin typeface="Aptos"/>
              </a:rPr>
              <a:t>People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4882896"/>
            <a:ext cx="1078992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current work and helpers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91856" y="4553712"/>
            <a:ext cx="1353312" cy="713232"/>
          </a:xfrm>
          <a:prstGeom prst="roundRect">
            <a:avLst/>
          </a:prstGeom>
          <a:solidFill>
            <a:srgbClr val="F7FAF9"/>
          </a:solidFill>
          <a:ln w="12700"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01583" y="4681728"/>
            <a:ext cx="106070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B6F6A"/>
                </a:solidFill>
                <a:latin typeface="Aptos"/>
              </a:rPr>
              <a:t>Projects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1583" y="4882896"/>
            <a:ext cx="1078992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progress and context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46336" y="4553712"/>
            <a:ext cx="1353312" cy="713232"/>
          </a:xfrm>
          <a:prstGeom prst="roundRect">
            <a:avLst/>
          </a:prstGeom>
          <a:solidFill>
            <a:srgbClr val="F7FAF9"/>
          </a:solidFill>
          <a:ln w="12700"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56063" y="4681728"/>
            <a:ext cx="106070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B6F6A"/>
                </a:solidFill>
                <a:latin typeface="Aptos"/>
              </a:rPr>
              <a:t>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6063" y="4882896"/>
            <a:ext cx="1078992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visible to the right people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11696" y="5742432"/>
            <a:ext cx="3931920" cy="402336"/>
          </a:xfrm>
          <a:prstGeom prst="roundRect">
            <a:avLst/>
          </a:prstGeom>
          <a:solidFill>
            <a:srgbClr val="17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31152" y="5843016"/>
            <a:ext cx="34747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The demo starts from the map, then follows one meeting into reviewed memory.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297</Words>
  <Application>Microsoft Macintosh PowerPoint</Application>
  <PresentationFormat>Widescreen</PresentationFormat>
  <Paragraphs>59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Iranpour, A. (Ahmadreza)</cp:lastModifiedBy>
  <cp:revision>2</cp:revision>
  <dcterms:created xsi:type="dcterms:W3CDTF">2013-01-27T09:14:16Z</dcterms:created>
  <dcterms:modified xsi:type="dcterms:W3CDTF">2026-06-03T09:39:38Z</dcterms:modified>
  <cp:category/>
</cp:coreProperties>
</file>